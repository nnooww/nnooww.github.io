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https://nvd.nist.gov/vuln/detail/CVE-2020-28495
- https://security.snyk.io/vuln/SNYK-JS-TOTALJS-1046671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https://dreamhack.io/forum/qna/5854/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https://nvd.nist.gov/vuln/detail/CVE-2020-28495
- https://security.snyk.io/vuln/SNYK-JS-TOTALJS-1046671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https://developer.mozilla.org/en-US/docs/Web/Security/Attacks/Prototype_pollution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https://nvd.nist.gov/vuln/detail/CVE-2020-28495
- https://security.snyk.io/vuln/SNYK-JS-TOTALJS-1046671
- https://developer.mozilla.org/en-US/docs/Web/Security/Attacks/Prototype_pollution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https://dreamhack.io/forum/qna/5854/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https://nvd.nist.gov/vuln/detail/CVE-2020-28495
- https://security.snyk.io/vuln/SNYK-JS-TOTALJS-1046671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https://security.snyk.io/vuln/SNYK-JS-TOTALJS-1046671
- https://nvd.nist.gov/vuln/detail/CVE-2020-28495
- https://developer.mozilla.org/en-US/docs/Web/Security/Attacks/Prototype_pollution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https://dreamhack.io/forum/qna/5854/
- https://nvd.nist.gov/vuln/detail/CVE-2020-28495
- https://security.snyk.io/vuln/SNYK-JS-TOTALJS-1046671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video" Target="file:///C:\Users\woohy\Documents\Bandicam\bandicam%202025-12-31%2019-06-05-538.mp4" TargetMode="External" /><Relationship Id="rId4" Type="http://schemas.microsoft.com/office/2007/relationships/media" Target="file:///C:\Users\woohy\Documents\Bandicam\bandicam%202025-12-31%2019-06-05-538.mp4" TargetMode="External" /><Relationship Id="rId5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1106424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1234440"/>
            <a:ext cx="2011680" cy="411480"/>
          </a:xfrm>
          <a:prstGeom prst="roundRect">
            <a:avLst/>
          </a:prstGeom>
          <a:solidFill>
            <a:srgbClr val="4F9CFB"/>
          </a:solidFill>
          <a:ln w="12700">
            <a:solidFill>
              <a:srgbClr val="4F9CF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51560" y="1307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Dreamhack Wargame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63240" y="1234440"/>
            <a:ext cx="2011680" cy="411480"/>
          </a:xfrm>
          <a:prstGeom prst="roundRect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307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CVE 분석 발표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9601200" cy="1463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33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ColorGen</a:t>
            </a:r>
            <a:r>
              <a:rPr lang="ko-KR" altLang="en-US" sz="33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문제로</a:t>
            </a:r>
            <a:r>
              <a:rPr lang="en-US" sz="33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 보는</a:t>
            </a:r>
            <a:endParaRPr lang="en-US" sz="33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en-US" sz="33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Prototype Pollution</a:t>
            </a:r>
            <a:r>
              <a:rPr lang="en-US" altLang="ko-KR" sz="33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(CVE-2020-28495)</a:t>
            </a:r>
            <a:endParaRPr lang="en-US" altLang="ko-KR" sz="33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CVE-2020-28495 (total.js set 함수)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5669280"/>
            <a:ext cx="1024128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8c4d9"/>
                </a:solidFill>
                <a:latin typeface="Aptos"/>
                <a:ea typeface="Aptos"/>
                <a:cs typeface="Aptos"/>
              </a:rPr>
              <a:t>발표자: </a:t>
            </a:r>
            <a:r>
              <a:rPr lang="ko-KR" altLang="en-US" sz="1400">
                <a:solidFill>
                  <a:srgbClr val="b8c4d9"/>
                </a:solidFill>
                <a:latin typeface="Aptos"/>
                <a:ea typeface="Aptos"/>
                <a:cs typeface="Aptos"/>
              </a:rPr>
              <a:t>     채우혁   </a:t>
            </a:r>
            <a:r>
              <a:rPr lang="en-US" sz="1400">
                <a:solidFill>
                  <a:srgbClr val="b8c4d9"/>
                </a:solidFill>
                <a:latin typeface="Aptos"/>
                <a:ea typeface="Aptos"/>
                <a:cs typeface="Aptos"/>
              </a:rPr>
              <a:t>   |    날짜: </a:t>
            </a:r>
            <a:r>
              <a:rPr lang="ko-KR" altLang="en-US" sz="1400">
                <a:solidFill>
                  <a:srgbClr val="b8c4d9"/>
                </a:solidFill>
                <a:latin typeface="Aptos"/>
                <a:ea typeface="Aptos"/>
                <a:cs typeface="Aptos"/>
              </a:rPr>
              <a:t>     </a:t>
            </a:r>
            <a:r>
              <a:rPr lang="en-US" altLang="ko-KR" sz="1400">
                <a:solidFill>
                  <a:srgbClr val="b8c4d9"/>
                </a:solidFill>
                <a:latin typeface="Aptos"/>
                <a:ea typeface="Aptos"/>
                <a:cs typeface="Aptos"/>
              </a:rPr>
              <a:t>2026-01-07</a:t>
            </a:r>
            <a:endParaRPr lang="en-US" altLang="ko-KR" sz="1400">
              <a:solidFill>
                <a:srgbClr val="b8c4d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149840" y="3977640"/>
            <a:ext cx="1371600" cy="1371600"/>
          </a:xfrm>
          <a:prstGeom prst="ellipse">
            <a:avLst/>
          </a:prstGeom>
          <a:solidFill>
            <a:srgbClr val="4F9CFB">
              <a:alpha val="30000"/>
            </a:srgbClr>
          </a:solidFill>
          <a:ln w="12700">
            <a:solidFill>
              <a:srgbClr val="4F9CF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4343400"/>
            <a:ext cx="1005840" cy="1005840"/>
          </a:xfrm>
          <a:prstGeom prst="ellipse">
            <a:avLst/>
          </a:prstGeom>
          <a:solidFill>
            <a:srgbClr val="00D084">
              <a:alpha val="22000"/>
            </a:srgbClr>
          </a:solidFill>
          <a:ln w="12700">
            <a:solidFill>
              <a:srgbClr val="00D084">
                <a:alpha val="22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발표 </a:t>
            </a:r>
            <a:r>
              <a:rPr lang="ko-KR" altLang="en-US" sz="3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목차</a:t>
            </a:r>
            <a:endParaRPr lang="ko-KR" altLang="en-US" sz="30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017523"/>
            <a:ext cx="10972800" cy="420624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387070"/>
            <a:ext cx="10241280" cy="32918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55600" indent="-355600">
              <a:lnSpc>
                <a:spcPct val="115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af2ff"/>
                </a:solidFill>
                <a:latin typeface="Aptos"/>
                <a:ea typeface="Aptos"/>
                <a:cs typeface="Aptos"/>
              </a:rPr>
              <a:t>1. ColorGen 문제와 total.js의 역할</a:t>
            </a:r>
            <a:endParaRPr lang="en-US" sz="22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af2ff"/>
                </a:solidFill>
                <a:latin typeface="Aptos"/>
                <a:ea typeface="Aptos"/>
                <a:cs typeface="Aptos"/>
              </a:rPr>
              <a:t>2. CVE-2020-28495 개요 (영향 버전/심각도)</a:t>
            </a:r>
            <a:endParaRPr lang="en-US" sz="22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af2ff"/>
                </a:solidFill>
                <a:latin typeface="Aptos"/>
                <a:ea typeface="Aptos"/>
                <a:cs typeface="Aptos"/>
              </a:rPr>
              <a:t>3. Prototype Pollution 핵심 원리</a:t>
            </a:r>
            <a:endParaRPr lang="en-US" sz="22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af2ff"/>
                </a:solidFill>
                <a:latin typeface="Aptos"/>
                <a:ea typeface="Aptos"/>
                <a:cs typeface="Aptos"/>
              </a:rPr>
              <a:t>4. ColorGen 코드에서 취약 패턴 찾기</a:t>
            </a:r>
            <a:endParaRPr lang="en-US" sz="22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af2ff"/>
                </a:solidFill>
                <a:latin typeface="Aptos"/>
                <a:ea typeface="Aptos"/>
                <a:cs typeface="Aptos"/>
              </a:rPr>
              <a:t>5. 영향</a:t>
            </a:r>
            <a:endParaRPr lang="en-US" sz="22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af2ff"/>
                </a:solidFill>
                <a:latin typeface="Aptos"/>
                <a:ea typeface="Aptos"/>
                <a:cs typeface="Aptos"/>
              </a:rPr>
              <a:t>6. 예방</a:t>
            </a:r>
            <a:r>
              <a:rPr lang="ko-KR" altLang="en-US" sz="2200">
                <a:solidFill>
                  <a:srgbClr val="eaf2ff"/>
                </a:solidFill>
                <a:latin typeface="Aptos"/>
                <a:ea typeface="Aptos"/>
                <a:cs typeface="Aptos"/>
              </a:rPr>
              <a:t>법</a:t>
            </a:r>
            <a:endParaRPr lang="ko-KR" altLang="en-US" sz="2200">
              <a:solidFill>
                <a:srgbClr val="eaf2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ColorGen과 total.js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349240" cy="4206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40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ColorGen (Dreamhack)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663440" cy="32918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279400" indent="-279400">
              <a:lnSpc>
                <a:spcPct val="120000"/>
              </a:lnSpc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입력값을 서버가 처리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279400" indent="-279400">
              <a:lnSpc>
                <a:spcPct val="120000"/>
              </a:lnSpc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요청 body의 키/값을 처리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279400" indent="-279400">
              <a:lnSpc>
                <a:spcPct val="120000"/>
              </a:lnSpc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내부 설정 객체</a:t>
            </a: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인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(obj)에 반영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40680" cy="4206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240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total.js utils.set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606040"/>
            <a:ext cx="4754880" cy="32918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set(obj, path, value)</a:t>
            </a: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 형식으로 값을 받음</a:t>
            </a:r>
            <a:endParaRPr lang="ko-KR" alt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예) "a.b.c" → obj.a.b.c = value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path가 사용자 입력이면 위험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731520" y="6272784"/>
            <a:ext cx="10972800" cy="493776"/>
          </a:xfrm>
          <a:prstGeom prst="roundRect">
            <a:avLst/>
          </a:prstGeom>
          <a:solidFill>
            <a:srgbClr val="4F9CFB">
              <a:alpha val="20000"/>
            </a:srgbClr>
          </a:solidFill>
          <a:ln w="12700">
            <a:solidFill>
              <a:srgbClr val="4F9CFB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6382512"/>
            <a:ext cx="1042416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핵심 포인트: 사용자 입력이 path(경로)로 들어가면 Prototype Pollution</a:t>
            </a:r>
            <a:r>
              <a:rPr lang="ko-KR" altLang="en-US" sz="16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 이 발생가능</a:t>
            </a:r>
            <a:endParaRPr lang="ko-KR" altLang="en-US" sz="1600" b="1">
              <a:solidFill>
                <a:srgbClr val="eaf2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CVE 개요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972800" cy="4206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40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CVE-2020-28495 요약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CVE-2020-28495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1097280" y="3310128"/>
            <a:ext cx="2011680" cy="411480"/>
          </a:xfrm>
          <a:prstGeom prst="round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CVSS 7.3 HIGH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취약점 유형: Prototype Pollution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606040"/>
            <a:ext cx="4800600" cy="34747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279400" indent="-279400">
              <a:lnSpc>
                <a:spcPct val="125000"/>
              </a:lnSpc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 대상: total.js &lt; 3.4.7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279400" indent="-279400">
              <a:lnSpc>
                <a:spcPct val="125000"/>
              </a:lnSpc>
              <a:buSzPct val="100000"/>
              <a:buChar char="•"/>
              <a:defRPr/>
            </a:pP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원인: set() </a:t>
            </a: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함수에서 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경</a:t>
            </a: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로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키 </a:t>
            </a: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검증이 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미흡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279400" indent="-279400">
              <a:lnSpc>
                <a:spcPct val="125000"/>
              </a:lnSpc>
              <a:buSzPct val="100000"/>
              <a:buChar char="•"/>
              <a:defRPr/>
            </a:pP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영향: 앱 구조에 따라 설정 오염</a:t>
            </a: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/ Property </a:t>
            </a: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      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Injection / (일부 상황) RCE 가능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279400" indent="-279400">
              <a:lnSpc>
                <a:spcPct val="125000"/>
              </a:lnSpc>
              <a:buSzPct val="100000"/>
              <a:buChar char="•"/>
              <a:defRPr/>
            </a:pP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조치: 3.4.7+로 업그레이드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Pollution 핵심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972800" cy="4206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40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정의와 발생 흐름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2788920"/>
            <a:ext cx="3154680" cy="1005840"/>
          </a:xfrm>
          <a:prstGeom prst="roundRect">
            <a:avLst/>
          </a:prstGeom>
          <a:solidFill>
            <a:srgbClr val="4F9CFB">
              <a:alpha val="85000"/>
            </a:srgbClr>
          </a:solidFill>
          <a:ln w="12700">
            <a:solidFill>
              <a:srgbClr val="4F9C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926080"/>
            <a:ext cx="2788920" cy="73152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1) 오염(Pollution)</a:t>
            </a:r>
            <a:endParaRPr lang="en-US" sz="1400" b="1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r>
              <a:rPr lang="en-US" sz="14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특수 키 경로로</a:t>
            </a:r>
            <a:endParaRPr lang="en-US" sz="1400" b="1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r>
              <a:rPr lang="en-US" sz="14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프로토타입 </a:t>
            </a:r>
            <a:r>
              <a:rPr lang="ko-KR" altLang="en-US" sz="14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오염</a:t>
            </a:r>
            <a:endParaRPr lang="ko-KR" altLang="en-US" sz="1400" b="1">
              <a:solidFill>
                <a:srgbClr val="eaf2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2788920"/>
            <a:ext cx="3154680" cy="1005840"/>
          </a:xfrm>
          <a:prstGeom prst="roundRect">
            <a:avLst/>
          </a:prstGeom>
          <a:solidFill>
            <a:srgbClr val="00D084">
              <a:alpha val="85000"/>
            </a:srgbClr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926080"/>
            <a:ext cx="2788920" cy="73152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2) 전파(Propagation)</a:t>
            </a:r>
            <a:endParaRPr lang="en-US" sz="1400" b="1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r>
              <a:rPr lang="en-US" sz="14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Object.prototype</a:t>
            </a:r>
            <a:endParaRPr lang="en-US" sz="1400" b="1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r>
              <a:rPr lang="en-US" altLang="ko-KR" sz="14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&gt;</a:t>
            </a:r>
            <a:r>
              <a:rPr lang="en-US" sz="1400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 모든 객체에 상속</a:t>
            </a:r>
            <a:endParaRPr lang="en-US" sz="1400" b="1">
              <a:solidFill>
                <a:srgbClr val="eaf2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38160" y="2788920"/>
            <a:ext cx="3154680" cy="1005840"/>
          </a:xfrm>
          <a:prstGeom prst="roundRect">
            <a:avLst/>
          </a:prstGeom>
          <a:solidFill>
            <a:srgbClr val="FFB020">
              <a:alpha val="8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92608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악용(Exploitation)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권한/로직 우회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예외 유도 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297180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772400" y="297180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051560" y="4176321"/>
            <a:ext cx="1042416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Prototype Pollution은 데이터만으로 Object.prototype 같은 기본 프로토타입을 오염시키는 취약점이다.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오염된 속성이 앱 로직에서 사용될 때 예기치 않은 동작(권한 우회, 로직 오류 등)으로 이어진다.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취약점 분석: set(path)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972800" cy="420624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40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원인: path 키 검증 미흡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10241280" cy="13716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279400" indent="-279400">
              <a:lnSpc>
                <a:spcPct val="120000"/>
              </a:lnSpc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total.js의 set()은 문자열 경로(path)를 파싱해 객체에 값을 넣는다.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279400" indent="-279400">
              <a:lnSpc>
                <a:spcPct val="120000"/>
              </a:lnSpc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CVE-2020-28495에서는 path에 포함되는 키가 제대로 </a:t>
            </a:r>
            <a:r>
              <a:rPr lang="ko-KR" alt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검증</a:t>
            </a: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되지 않아</a:t>
            </a:r>
            <a:endParaRPr lang="en-US" sz="18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279400" indent="-279400">
              <a:lnSpc>
                <a:spcPct val="120000"/>
              </a:lnSpc>
              <a:buSzPct val="100000"/>
              <a:buChar char="•"/>
              <a:defRPr/>
            </a:pPr>
            <a:r>
              <a:rPr lang="en-US" sz="1800">
                <a:solidFill>
                  <a:srgbClr val="eaf2ff"/>
                </a:solidFill>
                <a:latin typeface="Aptos"/>
                <a:ea typeface="Aptos"/>
                <a:cs typeface="Aptos"/>
              </a:rPr>
              <a:t>  __proto__ / constructor / prototype 같은 특수 경로를 통해 prototype 오염이 가능해진다.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1051560" y="3931920"/>
            <a:ext cx="10241280" cy="1828800"/>
          </a:xfrm>
          <a:prstGeom prst="roundRect">
            <a:avLst>
              <a:gd name="adj" fmla="val 16667"/>
            </a:avLst>
          </a:prstGeom>
          <a:solidFill>
            <a:srgbClr val="0a0f1d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114800"/>
            <a:ext cx="9784080" cy="146304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01  // 위험 패턴(개념):</a:t>
            </a:r>
            <a:endParaRPr lang="en-US" sz="1300">
              <a:solidFill>
                <a:srgbClr val="eaf2f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02  set(targetObj, userControlledPath, userValue);</a:t>
            </a:r>
            <a:endParaRPr lang="en-US" sz="1300">
              <a:solidFill>
                <a:srgbClr val="eaf2f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03  </a:t>
            </a:r>
            <a:endParaRPr lang="en-US" sz="1300">
              <a:solidFill>
                <a:srgbClr val="eaf2f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04  // 방어 포인트(개념):</a:t>
            </a:r>
            <a:endParaRPr lang="en-US" sz="1300">
              <a:solidFill>
                <a:srgbClr val="eaf2f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05  validatePath(userControlledPath);  // __proto__/constructor/prototype 차단</a:t>
            </a:r>
            <a:endParaRPr lang="en-US" sz="1300"/>
          </a:p>
        </p:txBody>
      </p:sp>
      <p:sp>
        <p:nvSpPr>
          <p:cNvPr id="11" name=""/>
          <p:cNvSpPr txBox="1"/>
          <p:nvPr/>
        </p:nvSpPr>
        <p:spPr>
          <a:xfrm>
            <a:off x="1280160" y="5760720"/>
            <a:ext cx="4565923" cy="28923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1300">
                <a:solidFill>
                  <a:schemeClr val="lt1"/>
                </a:solidFill>
              </a:rPr>
              <a:t>※</a:t>
            </a:r>
            <a:r>
              <a:rPr lang="ko-KR" altLang="en-US" sz="1300">
                <a:solidFill>
                  <a:schemeClr val="lt1"/>
                </a:solidFill>
              </a:rPr>
              <a:t>중요</a:t>
            </a:r>
            <a:r>
              <a:rPr lang="en-US" altLang="ko-KR" sz="1300">
                <a:solidFill>
                  <a:schemeClr val="lt1"/>
                </a:solidFill>
              </a:rPr>
              <a:t>(</a:t>
            </a:r>
            <a:r>
              <a:rPr lang="ko-KR" altLang="en-US" sz="1300">
                <a:solidFill>
                  <a:schemeClr val="lt1"/>
                </a:solidFill>
              </a:rPr>
              <a:t> 값이 위험한게 아닌  경로를 입력할수있을때 위험</a:t>
            </a:r>
            <a:endParaRPr lang="ko-KR" altLang="en-US" sz="13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ColorGen 코드 연결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972800" cy="4206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40280"/>
            <a:ext cx="103327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사용자 입력 </a:t>
            </a:r>
            <a:r>
              <a:rPr lang="en-US" altLang="ko-KR" sz="16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&gt;</a:t>
            </a:r>
            <a:r>
              <a:rPr lang="en-US" sz="16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 util.set(obj, key, value)</a:t>
            </a:r>
            <a:endParaRPr lang="en-US" sz="16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2606040"/>
            <a:ext cx="10241280" cy="224028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788920"/>
            <a:ext cx="97840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function change()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 //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 for (i in this.body)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   util.set(obj, i, this.body[i])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  this.plain('OK, changed');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937760"/>
            <a:ext cx="10241280" cy="11887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ko-KR" altLang="en-US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취약점</a:t>
            </a:r>
            <a:r>
              <a:rPr lang="en-US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 포인트</a:t>
            </a:r>
            <a:endParaRPr lang="en-US" sz="16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i: 요청 body의 키 (사용자 컨트롤 가능)</a:t>
            </a:r>
            <a:endParaRPr lang="en-US" sz="16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util.set: total.js set()과 유사한 경로 기반 </a:t>
            </a:r>
            <a:endParaRPr lang="en-US" sz="16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따라서 키가 곧 path</a:t>
            </a:r>
            <a:r>
              <a:rPr lang="en-US" altLang="ko-KR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(</a:t>
            </a:r>
            <a:r>
              <a:rPr lang="ko-KR" altLang="en-US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경로</a:t>
            </a:r>
            <a:r>
              <a:rPr lang="en-US" altLang="ko-KR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)</a:t>
            </a:r>
            <a:r>
              <a:rPr lang="ko-KR" altLang="en-US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가</a:t>
            </a:r>
            <a:r>
              <a:rPr lang="en-US" sz="1600">
                <a:solidFill>
                  <a:srgbClr val="eaf2ff"/>
                </a:solidFill>
                <a:latin typeface="Aptos"/>
                <a:ea typeface="Aptos"/>
                <a:cs typeface="Aptos"/>
              </a:rPr>
              <a:t> 되는 순간, Prototype Pollution 위험이 생김</a:t>
            </a:r>
            <a:endParaRPr lang="en-US" sz="1600">
              <a:solidFill>
                <a:srgbClr val="eaf2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영향(Impact)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972800" cy="4206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40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왜 위험한가? (앱 구조에 따라 달라짐)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697480"/>
            <a:ext cx="3246120" cy="3291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4F9C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9260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Injection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3383280"/>
            <a:ext cx="278892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566160"/>
            <a:ext cx="2788920" cy="219456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b8c4d9"/>
                </a:solidFill>
              </a:rPr>
              <a:t>프로토타입이 오염되면 Object.prototype에 공격자 값이 들어가고</a:t>
            </a:r>
            <a:r>
              <a:rPr lang="ko-KR" altLang="en-US" sz="1500">
                <a:solidFill>
                  <a:srgbClr val="b8c4d9"/>
                </a:solidFill>
              </a:rPr>
              <a:t> </a:t>
            </a:r>
            <a:r>
              <a:rPr lang="en-US" sz="1500">
                <a:solidFill>
                  <a:srgbClr val="b8c4d9"/>
                </a:solidFill>
              </a:rPr>
              <a:t>앱은 원래 없던 속성을 모든 객체에서 기본값처럼 보게 됨</a:t>
            </a:r>
            <a:endParaRPr lang="en-US" sz="1500">
              <a:solidFill>
                <a:srgbClr val="b8c4d9"/>
              </a:solidFill>
            </a:endParaRPr>
          </a:p>
          <a:p>
            <a:pPr marL="0" indent="0">
              <a:buNone/>
              <a:defRPr/>
            </a:pPr>
            <a:r>
              <a:rPr lang="en-US" sz="1500">
                <a:solidFill>
                  <a:srgbClr val="b8c4d9"/>
                </a:solidFill>
              </a:rPr>
              <a:t>예</a:t>
            </a:r>
            <a:r>
              <a:rPr lang="en-US" altLang="ko-KR" sz="1500">
                <a:solidFill>
                  <a:srgbClr val="b8c4d9"/>
                </a:solidFill>
              </a:rPr>
              <a:t>)</a:t>
            </a:r>
            <a:r>
              <a:rPr lang="ko-KR" altLang="en-US" sz="1500">
                <a:solidFill>
                  <a:srgbClr val="b8c4d9"/>
                </a:solidFill>
              </a:rPr>
              <a:t> </a:t>
            </a:r>
            <a:r>
              <a:rPr lang="en-US" sz="1500">
                <a:solidFill>
                  <a:srgbClr val="b8c4d9"/>
                </a:solidFill>
              </a:rPr>
              <a:t>권한/역할/옵션을 속성값으로 판단하는 로직이면</a:t>
            </a:r>
            <a:r>
              <a:rPr lang="ko-KR" altLang="en-US" sz="1500">
                <a:solidFill>
                  <a:srgbClr val="b8c4d9"/>
                </a:solidFill>
              </a:rPr>
              <a:t> </a:t>
            </a:r>
            <a:r>
              <a:rPr lang="en-US" sz="1500">
                <a:solidFill>
                  <a:srgbClr val="b8c4d9"/>
                </a:solidFill>
              </a:rPr>
              <a:t>isAdmin, role 같은 값 주입으로 인증·권한 체크가 흔들릴 수 있음</a:t>
            </a:r>
            <a:endParaRPr lang="en-US" sz="1500">
              <a:solidFill>
                <a:srgbClr val="b8c4d9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26280" y="2697480"/>
            <a:ext cx="3246120" cy="3291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926080"/>
            <a:ext cx="2788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보안 설정 오염</a:t>
            </a:r>
            <a:endParaRPr lang="en-US" sz="18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3383280"/>
            <a:ext cx="278892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566160"/>
            <a:ext cx="2788920" cy="219456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b8c4d9"/>
                </a:solidFill>
                <a:latin typeface="Aptos"/>
                <a:ea typeface="Aptos"/>
                <a:cs typeface="Aptos"/>
              </a:rPr>
              <a:t>전역 설정/옵션 객체가 오염되면 영향이 앱 전체로 퍼짐</a:t>
            </a:r>
            <a:endParaRPr lang="en-US" sz="1500">
              <a:solidFill>
                <a:srgbClr val="b8c4d9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r>
              <a:rPr lang="en-US" sz="1500">
                <a:solidFill>
                  <a:srgbClr val="b8c4d9"/>
                </a:solidFill>
                <a:latin typeface="Aptos"/>
                <a:ea typeface="Aptos"/>
                <a:cs typeface="Aptos"/>
              </a:rPr>
              <a:t>입력 검증, 필터링, 권한 체크 같은 안전장치가 비활성화될 수 있음</a:t>
            </a:r>
            <a:endParaRPr lang="en-US" sz="1500">
              <a:solidFill>
                <a:srgbClr val="b8c4d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92440" y="2697480"/>
            <a:ext cx="3246120" cy="3291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9260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연계 시 RCE 가능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21040" y="3383280"/>
            <a:ext cx="278892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56616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어떤 앱은 오염된 속성이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코드 경로/템플릿/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명령 실행과 연결될 수 있음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예방 / 대응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972800" cy="4206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04D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40280"/>
            <a:ext cx="103327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ko-KR" altLang="en-US" sz="16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대응법</a:t>
            </a:r>
            <a:endParaRPr lang="ko-KR" altLang="en-US" sz="16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583680" cy="35204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1) 패치 적용</a:t>
            </a:r>
            <a:endParaRPr lang="en-US" sz="17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total.js를 3.4.7 이상으로 업그레이드</a:t>
            </a:r>
            <a:endParaRPr lang="en-US" sz="17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endParaRPr lang="en-US" sz="1700"/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2) 입력 검증</a:t>
            </a:r>
            <a:r>
              <a:rPr lang="ko-KR" alt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 로직 추가</a:t>
            </a:r>
            <a:endParaRPr lang="ko-KR" altLang="en-US" sz="17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path로 사용할 키는 허용 목록만 통과</a:t>
            </a:r>
            <a:endParaRPr lang="en-US" sz="17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중첩 키 파싱이 필요 없다면 아예 금지</a:t>
            </a:r>
            <a:endParaRPr lang="en-US" sz="17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endParaRPr lang="en-US" sz="1700"/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3) 위험 키 차단</a:t>
            </a:r>
            <a:endParaRPr lang="en-US" sz="17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__proto__, constructor, prototype 등</a:t>
            </a:r>
            <a:endParaRPr lang="en-US" sz="17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endParaRPr lang="en-US" sz="1700"/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4) 구조적 완화</a:t>
            </a:r>
            <a:endParaRPr lang="en-US" sz="17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1700">
                <a:solidFill>
                  <a:srgbClr val="eaf2ff"/>
                </a:solidFill>
                <a:latin typeface="Aptos"/>
                <a:ea typeface="Aptos"/>
                <a:cs typeface="Aptos"/>
              </a:rPr>
              <a:t>• 필요 시 Object.create(null) 같은 프로토타입 없는 객체 사용</a:t>
            </a:r>
            <a:endParaRPr lang="en-US" sz="1700"/>
          </a:p>
        </p:txBody>
      </p:sp>
      <p:sp>
        <p:nvSpPr>
          <p:cNvPr id="9" name="Shape 7"/>
          <p:cNvSpPr/>
          <p:nvPr/>
        </p:nvSpPr>
        <p:spPr>
          <a:xfrm>
            <a:off x="7909560" y="2606040"/>
            <a:ext cx="3063240" cy="3520440"/>
          </a:xfrm>
          <a:prstGeom prst="roundRect">
            <a:avLst/>
          </a:prstGeom>
          <a:solidFill>
            <a:srgbClr val="4F9CFB">
              <a:alpha val="15000"/>
            </a:srgbClr>
          </a:solidFill>
          <a:ln w="12700">
            <a:solidFill>
              <a:srgbClr val="4F9C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27889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한 줄 요약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3246120"/>
            <a:ext cx="2697480" cy="10515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사용자 입력을</a:t>
            </a:r>
            <a:endParaRPr lang="en-US" sz="20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None/>
              <a:defRPr/>
            </a:pPr>
            <a:r>
              <a:rPr lang="en-US" sz="2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경로(path)로</a:t>
            </a:r>
            <a:endParaRPr lang="en-US" sz="20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None/>
              <a:defRPr/>
            </a:pPr>
            <a:r>
              <a:rPr lang="ko-KR" altLang="en-US" sz="2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받</a:t>
            </a:r>
            <a:r>
              <a:rPr lang="en-US" sz="20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지 말 것</a:t>
            </a:r>
            <a:endParaRPr lang="en-US" sz="2000" b="1">
              <a:solidFill>
                <a:srgbClr val="eaf2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92440" y="4434840"/>
            <a:ext cx="2697480" cy="12801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af2ff"/>
                </a:solidFill>
                <a:latin typeface="Aptos"/>
                <a:ea typeface="Aptos"/>
                <a:cs typeface="Aptos"/>
              </a:rPr>
              <a:t>업데이트 + 키 차단 +</a:t>
            </a:r>
            <a:endParaRPr lang="en-US" sz="14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r>
              <a:rPr lang="ko-KR" altLang="en-US" sz="1400">
                <a:solidFill>
                  <a:srgbClr val="eaf2ff"/>
                </a:solidFill>
                <a:latin typeface="Aptos"/>
                <a:ea typeface="Aptos"/>
                <a:cs typeface="Aptos"/>
              </a:rPr>
              <a:t>입력 검증 로직 추가가 </a:t>
            </a:r>
            <a:endParaRPr lang="ko-KR" altLang="en-US" sz="1400">
              <a:solidFill>
                <a:srgbClr val="eaf2ff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  <a:defRPr/>
            </a:pPr>
            <a:r>
              <a:rPr lang="en-US" sz="1400">
                <a:solidFill>
                  <a:srgbClr val="eaf2ff"/>
                </a:solidFill>
                <a:latin typeface="Aptos"/>
                <a:ea typeface="Aptos"/>
                <a:cs typeface="Aptos"/>
              </a:rPr>
              <a:t>가</a:t>
            </a:r>
            <a:r>
              <a:rPr lang="ko-KR" altLang="en-US" sz="1400">
                <a:solidFill>
                  <a:srgbClr val="eaf2ff"/>
                </a:solidFill>
                <a:latin typeface="Aptos"/>
                <a:ea typeface="Aptos"/>
                <a:cs typeface="Aptos"/>
              </a:rPr>
              <a:t>장 안전한 조합</a:t>
            </a:r>
            <a:endParaRPr lang="ko-KR" altLang="en-US" sz="1400">
              <a:solidFill>
                <a:srgbClr val="eaf2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C4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554480" y="438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R E S E N T A T I O 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223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6272784"/>
            <a:ext cx="10972800" cy="49377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8999" y="3763941"/>
            <a:ext cx="8717840" cy="4029671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eaf2ff"/>
                </a:solidFill>
                <a:latin typeface="Aptos Display"/>
                <a:ea typeface="Aptos Display"/>
                <a:cs typeface="Aptos Display"/>
              </a:rPr>
              <a:t>감사합니다!</a:t>
            </a:r>
            <a:endParaRPr lang="en-US" sz="2600"/>
          </a:p>
        </p:txBody>
      </p:sp>
      <p:pic>
        <p:nvPicPr>
          <p:cNvPr id="11" name="bandicam 2025-12-31 19-06-05-538.mp4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1773564" y="1047772"/>
            <a:ext cx="9332734" cy="4321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804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526</ep:Words>
  <ep:PresentationFormat>On-screen Show (16:9)</ep:PresentationFormat>
  <ep:Paragraphs>123</ep:Paragraphs>
  <ep:Slides>10</ep:Slides>
  <ep:Notes>10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2025-12-31T08:39:32.000</dcterms:created>
  <dc:creator>ChatGPT</dc:creator>
  <cp:lastModifiedBy>woohy</cp:lastModifiedBy>
  <dcterms:modified xsi:type="dcterms:W3CDTF">2026-01-07T03:16:57.132</dcterms:modified>
  <cp:revision>24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